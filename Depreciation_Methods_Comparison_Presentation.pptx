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7" r:id="rId1"/>
  </p:sldMasterIdLst>
  <p:sldIdLst>
    <p:sldId id="256" r:id="rId2"/>
    <p:sldId id="257" r:id="rId3"/>
    <p:sldId id="259" r:id="rId4"/>
    <p:sldId id="260" r:id="rId5"/>
    <p:sldId id="261" r:id="rId6"/>
    <p:sldId id="262" r:id="rId7"/>
    <p:sldId id="263" r:id="rId8"/>
    <p:sldId id="265" r:id="rId9"/>
    <p:sldId id="267" r:id="rId10"/>
    <p:sldId id="268" r:id="rId11"/>
    <p:sldId id="269" r:id="rId12"/>
    <p:sldId id="27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123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11097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9589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347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4712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90336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08153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2160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03242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928978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7367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342576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9425888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25976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329069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51556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1334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399983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11/28/2025</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37507780"/>
      </p:ext>
    </p:extLst>
  </p:cSld>
  <p:clrMap bg1="dk1" tx1="lt1" bg2="dk2" tx2="lt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5293" y="1834556"/>
            <a:ext cx="6108193" cy="1304543"/>
          </a:xfrm>
        </p:spPr>
        <p:txBody>
          <a:bodyPr>
            <a:noAutofit/>
          </a:bodyPr>
          <a:lstStyle/>
          <a:p>
            <a:r>
              <a:rPr sz="3200" b="1" dirty="0">
                <a:latin typeface="Algerian" panose="04020705040A02060702" pitchFamily="82" charset="0"/>
              </a:rPr>
              <a:t>Comparative Analysis of Depreciation Methods</a:t>
            </a:r>
          </a:p>
        </p:txBody>
      </p:sp>
      <p:sp>
        <p:nvSpPr>
          <p:cNvPr id="3" name="Content Placeholder 2"/>
          <p:cNvSpPr>
            <a:spLocks noGrp="1"/>
          </p:cNvSpPr>
          <p:nvPr>
            <p:ph idx="1"/>
          </p:nvPr>
        </p:nvSpPr>
        <p:spPr>
          <a:xfrm>
            <a:off x="2097026" y="3027967"/>
            <a:ext cx="6108192" cy="802066"/>
          </a:xfrm>
        </p:spPr>
        <p:txBody>
          <a:bodyPr>
            <a:normAutofit/>
          </a:bodyPr>
          <a:lstStyle/>
          <a:p>
            <a:pPr marL="0" indent="0">
              <a:buNone/>
            </a:pPr>
            <a:r>
              <a:rPr b="1" u="sng" dirty="0"/>
              <a:t>Straight-Line vs. Diminishing Balance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1176453"/>
            <a:ext cx="6571343" cy="743864"/>
          </a:xfrm>
        </p:spPr>
        <p:txBody>
          <a:bodyPr/>
          <a:lstStyle/>
          <a:p>
            <a:r>
              <a:rPr b="1" dirty="0">
                <a:latin typeface="Algerian" panose="04020705040A02060702" pitchFamily="82" charset="0"/>
                <a:cs typeface="Cascadia Code SemiBold" panose="020B0609020000020004" pitchFamily="49" charset="0"/>
              </a:rPr>
              <a:t>Scope of the Project</a:t>
            </a:r>
          </a:p>
        </p:txBody>
      </p:sp>
      <p:sp>
        <p:nvSpPr>
          <p:cNvPr id="3" name="Content Placeholder 2"/>
          <p:cNvSpPr>
            <a:spLocks noGrp="1"/>
          </p:cNvSpPr>
          <p:nvPr>
            <p:ph idx="1"/>
          </p:nvPr>
        </p:nvSpPr>
        <p:spPr/>
        <p:txBody>
          <a:bodyPr/>
          <a:lstStyle/>
          <a:p>
            <a:r>
              <a:rPr dirty="0"/>
              <a:t>Understand differences between SL and DB methods</a:t>
            </a:r>
          </a:p>
          <a:p>
            <a:r>
              <a:rPr dirty="0"/>
              <a:t>Compare applicability</a:t>
            </a:r>
          </a:p>
          <a:p>
            <a:r>
              <a:rPr dirty="0"/>
              <a:t>Explain terminologies</a:t>
            </a:r>
          </a:p>
          <a:p>
            <a:r>
              <a:rPr dirty="0"/>
              <a:t>Create schedules</a:t>
            </a:r>
          </a:p>
          <a:p>
            <a:r>
              <a:rPr dirty="0"/>
              <a:t>Provide insights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443" y="794094"/>
            <a:ext cx="7471957" cy="1161705"/>
          </a:xfrm>
        </p:spPr>
        <p:txBody>
          <a:bodyPr>
            <a:normAutofit fontScale="90000"/>
          </a:bodyPr>
          <a:lstStyle/>
          <a:p>
            <a:r>
              <a:rPr lang="en-US" dirty="0">
                <a:latin typeface="Algerian" panose="04020705040A02060702" pitchFamily="82" charset="0"/>
                <a:cs typeface="Cascadia Code SemiBold" panose="020B0609020000020004" pitchFamily="49" charset="0"/>
              </a:rPr>
              <a:t>           </a:t>
            </a:r>
            <a:r>
              <a:rPr dirty="0">
                <a:latin typeface="Algerian" panose="04020705040A02060702" pitchFamily="82" charset="0"/>
                <a:cs typeface="Cascadia Code SemiBold" panose="020B0609020000020004" pitchFamily="49" charset="0"/>
              </a:rPr>
              <a:t>Introduction to </a:t>
            </a:r>
            <a:r>
              <a:rPr lang="en-US" dirty="0">
                <a:latin typeface="Algerian" panose="04020705040A02060702" pitchFamily="82" charset="0"/>
                <a:cs typeface="Cascadia Code SemiBold" panose="020B0609020000020004" pitchFamily="49" charset="0"/>
              </a:rPr>
              <a:t>        					 </a:t>
            </a:r>
            <a:r>
              <a:rPr dirty="0">
                <a:latin typeface="Algerian" panose="04020705040A02060702" pitchFamily="82" charset="0"/>
                <a:cs typeface="Cascadia Code SemiBold" panose="020B0609020000020004" pitchFamily="49" charset="0"/>
              </a:rPr>
              <a:t>Depreciation</a:t>
            </a:r>
          </a:p>
        </p:txBody>
      </p:sp>
      <p:sp>
        <p:nvSpPr>
          <p:cNvPr id="3" name="Content Placeholder 2"/>
          <p:cNvSpPr>
            <a:spLocks noGrp="1"/>
          </p:cNvSpPr>
          <p:nvPr>
            <p:ph idx="1"/>
          </p:nvPr>
        </p:nvSpPr>
        <p:spPr>
          <a:xfrm>
            <a:off x="124337" y="2015733"/>
            <a:ext cx="7334749" cy="3450613"/>
          </a:xfrm>
        </p:spPr>
        <p:txBody>
          <a:bodyPr/>
          <a:lstStyle/>
          <a:p>
            <a:pPr marL="0" indent="0" algn="just">
              <a:buNone/>
            </a:pPr>
            <a:r>
              <a:rPr lang="en-US" b="1" dirty="0"/>
              <a:t>Depreciation</a:t>
            </a:r>
            <a:r>
              <a:rPr lang="en-US" dirty="0"/>
              <a:t> is the systematic reduction in the value of a tangible asset over its useful life. It represents the decline in the asset’s ability to generate revenue due to wear and tear, usage, time, or obsolescence. By spreading the asset's cost across its useful years, companies can accurately measure profit and reflect the true financial condition of the business.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745117"/>
            <a:ext cx="6571343" cy="737414"/>
          </a:xfrm>
        </p:spPr>
        <p:txBody>
          <a:bodyPr>
            <a:normAutofit fontScale="90000"/>
          </a:bodyPr>
          <a:lstStyle/>
          <a:p>
            <a:r>
              <a:rPr b="1" dirty="0">
                <a:latin typeface="Algerian" panose="04020705040A02060702" pitchFamily="82" charset="0"/>
              </a:rPr>
              <a:t>Importance</a:t>
            </a:r>
            <a:r>
              <a:rPr b="1" dirty="0"/>
              <a:t> </a:t>
            </a:r>
            <a:r>
              <a:rPr b="1" dirty="0">
                <a:latin typeface="Algerian" panose="04020705040A02060702" pitchFamily="82" charset="0"/>
              </a:rPr>
              <a:t>of Depreciation</a:t>
            </a:r>
          </a:p>
        </p:txBody>
      </p:sp>
      <p:sp>
        <p:nvSpPr>
          <p:cNvPr id="3" name="Content Placeholder 2"/>
          <p:cNvSpPr>
            <a:spLocks noGrp="1"/>
          </p:cNvSpPr>
          <p:nvPr>
            <p:ph idx="1"/>
          </p:nvPr>
        </p:nvSpPr>
        <p:spPr>
          <a:xfrm>
            <a:off x="609599" y="2070116"/>
            <a:ext cx="8288868" cy="4386514"/>
          </a:xfrm>
        </p:spPr>
        <p:txBody>
          <a:bodyPr>
            <a:normAutofit fontScale="92500" lnSpcReduction="10000"/>
          </a:bodyPr>
          <a:lstStyle/>
          <a:p>
            <a:r>
              <a:rPr lang="en-US" sz="2000" b="1" dirty="0"/>
              <a:t>Ensures Accurate Profit Measurement</a:t>
            </a:r>
            <a:br>
              <a:rPr lang="en-US" dirty="0"/>
            </a:br>
            <a:r>
              <a:rPr lang="en-US" dirty="0"/>
              <a:t>Depreciation spreads the cost of an asset over its useful life, helping businesses match expenses with the revenue generated each year.</a:t>
            </a:r>
          </a:p>
          <a:p>
            <a:r>
              <a:rPr lang="en-US" sz="2000" b="1" dirty="0"/>
              <a:t>Reflects True Asset Value</a:t>
            </a:r>
            <a:br>
              <a:rPr lang="en-US" dirty="0"/>
            </a:br>
            <a:r>
              <a:rPr lang="en-US" dirty="0"/>
              <a:t>It reduces the book value of an asset gradually, showing a realistic picture of the company's financial position on the balance sheet.</a:t>
            </a:r>
          </a:p>
          <a:p>
            <a:r>
              <a:rPr lang="en-US" sz="2000" b="1" dirty="0"/>
              <a:t>Supports Tax Planning</a:t>
            </a:r>
            <a:br>
              <a:rPr lang="en-US" dirty="0"/>
            </a:br>
            <a:r>
              <a:rPr lang="en-US" dirty="0"/>
              <a:t>Depreciation is treated as an expense, reducing taxable income and helping organizations optimize tax liabilities.</a:t>
            </a:r>
          </a:p>
          <a:p>
            <a:r>
              <a:rPr lang="en-US" sz="2000" b="1" dirty="0"/>
              <a:t>Facilitates Better Financial Reporting</a:t>
            </a:r>
            <a:br>
              <a:rPr lang="en-US" dirty="0"/>
            </a:br>
            <a:r>
              <a:rPr lang="en-US" dirty="0"/>
              <a:t>By allocating asset cost systematically, depreciation ensures compliance with accounting standards and enhances transparency.</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829056"/>
          </a:xfrm>
        </p:spPr>
        <p:txBody>
          <a:bodyPr/>
          <a:lstStyle/>
          <a:p>
            <a:r>
              <a:rPr dirty="0">
                <a:latin typeface="Algerian" panose="04020705040A02060702" pitchFamily="82" charset="0"/>
              </a:rPr>
              <a:t>Key Terminologies</a:t>
            </a:r>
          </a:p>
        </p:txBody>
      </p:sp>
      <p:sp>
        <p:nvSpPr>
          <p:cNvPr id="3" name="Content Placeholder 2"/>
          <p:cNvSpPr>
            <a:spLocks noGrp="1"/>
          </p:cNvSpPr>
          <p:nvPr>
            <p:ph idx="1"/>
          </p:nvPr>
        </p:nvSpPr>
        <p:spPr>
          <a:xfrm>
            <a:off x="182880" y="1341120"/>
            <a:ext cx="8656320" cy="5118947"/>
          </a:xfrm>
        </p:spPr>
        <p:txBody>
          <a:bodyPr>
            <a:normAutofit fontScale="85000" lnSpcReduction="10000"/>
          </a:bodyPr>
          <a:lstStyle/>
          <a:p>
            <a:r>
              <a:rPr lang="en-US" b="1" dirty="0"/>
              <a:t>1. Asset Cost</a:t>
            </a:r>
          </a:p>
          <a:p>
            <a:pPr marL="0" indent="0">
              <a:buNone/>
            </a:pPr>
            <a:r>
              <a:rPr lang="en-US" dirty="0"/>
              <a:t>      The original purchase price of the asset before any additional charges.</a:t>
            </a:r>
          </a:p>
          <a:p>
            <a:r>
              <a:rPr lang="en-US" b="1" dirty="0"/>
              <a:t>2. Additional Asset Cost</a:t>
            </a:r>
          </a:p>
          <a:p>
            <a:pPr marL="400050" lvl="1" indent="0">
              <a:buNone/>
            </a:pPr>
            <a:r>
              <a:rPr lang="en-US" dirty="0"/>
              <a:t>Extra expenses required to bring the asset to usable condition, such as installation, transportation, or setup costs.</a:t>
            </a:r>
          </a:p>
          <a:p>
            <a:r>
              <a:rPr lang="en-US" b="1" dirty="0"/>
              <a:t>3. Asset Price (Total Cost)</a:t>
            </a:r>
          </a:p>
          <a:p>
            <a:pPr marL="400050" lvl="1" indent="0">
              <a:buNone/>
            </a:pPr>
            <a:r>
              <a:rPr lang="en-US" dirty="0"/>
              <a:t>The total amount invested in the asset:</a:t>
            </a:r>
            <a:br>
              <a:rPr lang="en-US" dirty="0"/>
            </a:br>
            <a:r>
              <a:rPr lang="en-US" b="1" dirty="0"/>
              <a:t>Asset Price = Asset Cost + Additional Asset Cost</a:t>
            </a:r>
            <a:endParaRPr lang="en-US" dirty="0"/>
          </a:p>
          <a:p>
            <a:r>
              <a:rPr lang="en-US" b="1" dirty="0"/>
              <a:t>4. Scrap Value (Residual Value)</a:t>
            </a:r>
          </a:p>
          <a:p>
            <a:pPr marL="0" indent="0">
              <a:buNone/>
            </a:pPr>
            <a:r>
              <a:rPr lang="en-US" dirty="0"/>
              <a:t>      The estimated value of the asset at the end of its useful life.</a:t>
            </a:r>
          </a:p>
          <a:p>
            <a:r>
              <a:rPr lang="en-US" b="1" dirty="0"/>
              <a:t>5. Estimated Life Span</a:t>
            </a:r>
          </a:p>
          <a:p>
            <a:pPr marL="0" indent="0">
              <a:buNone/>
            </a:pPr>
            <a:r>
              <a:rPr lang="en-US" dirty="0"/>
              <a:t>      The total number of years the asset is expected to be in productive use.</a:t>
            </a:r>
          </a:p>
          <a:p>
            <a:r>
              <a:rPr lang="en-US" b="1" dirty="0"/>
              <a:t>6. Depreciation per Year (Straight-Line Method)</a:t>
            </a:r>
          </a:p>
          <a:p>
            <a:pPr marL="400050" lvl="1" indent="0">
              <a:buNone/>
            </a:pPr>
            <a:r>
              <a:rPr lang="en-US" dirty="0"/>
              <a:t>The fixed annual depreciation calculated as:</a:t>
            </a:r>
            <a:br>
              <a:rPr lang="en-US" dirty="0"/>
            </a:br>
            <a:r>
              <a:rPr lang="en-US" b="1" dirty="0"/>
              <a:t>(Asset Price – Scrap Value) / Life Span</a:t>
            </a:r>
            <a:endParaRPr lang="en-US" dirty="0"/>
          </a:p>
          <a:p>
            <a:pPr marL="0" indent="0">
              <a:buNone/>
            </a:pP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Terminologies (2/2)</a:t>
            </a:r>
          </a:p>
        </p:txBody>
      </p:sp>
      <p:sp>
        <p:nvSpPr>
          <p:cNvPr id="3" name="Content Placeholder 2"/>
          <p:cNvSpPr>
            <a:spLocks noGrp="1"/>
          </p:cNvSpPr>
          <p:nvPr>
            <p:ph idx="1"/>
          </p:nvPr>
        </p:nvSpPr>
        <p:spPr>
          <a:xfrm>
            <a:off x="194732" y="1337734"/>
            <a:ext cx="8949267" cy="4703630"/>
          </a:xfrm>
        </p:spPr>
        <p:txBody>
          <a:bodyPr>
            <a:normAutofit fontScale="92500" lnSpcReduction="10000"/>
          </a:bodyPr>
          <a:lstStyle/>
          <a:p>
            <a:r>
              <a:rPr lang="en-US" b="1" dirty="0"/>
              <a:t>7. Depreciation Percentage</a:t>
            </a:r>
          </a:p>
          <a:p>
            <a:pPr marL="400050" lvl="1" indent="0">
              <a:buNone/>
            </a:pPr>
            <a:r>
              <a:rPr lang="en-US" dirty="0"/>
              <a:t>The rate at which the asset depreciates each year:</a:t>
            </a:r>
            <a:br>
              <a:rPr lang="en-US" dirty="0"/>
            </a:br>
            <a:r>
              <a:rPr lang="en-US" sz="1700" dirty="0"/>
              <a:t>Depreciation per Year ÷ Asset Price × 100</a:t>
            </a:r>
          </a:p>
          <a:p>
            <a:r>
              <a:rPr lang="en-US" b="1" dirty="0"/>
              <a:t>8. Total Depreciation</a:t>
            </a:r>
          </a:p>
          <a:p>
            <a:pPr marL="400050" lvl="1" indent="0">
              <a:buNone/>
            </a:pPr>
            <a:r>
              <a:rPr lang="en-US" dirty="0"/>
              <a:t>The total amount depreciated over the entire lifespan of the asset.</a:t>
            </a:r>
          </a:p>
          <a:p>
            <a:r>
              <a:rPr lang="en-US" b="1" dirty="0"/>
              <a:t>9. Depreciated Book Value</a:t>
            </a:r>
          </a:p>
          <a:p>
            <a:pPr marL="400050" lvl="1" indent="0">
              <a:buNone/>
            </a:pPr>
            <a:r>
              <a:rPr lang="en-US" dirty="0"/>
              <a:t>The value of the asset after accounting for accumulated depreciation .At the end of life, this should equal the </a:t>
            </a:r>
            <a:r>
              <a:rPr lang="en-US" b="1" dirty="0"/>
              <a:t>scrap value</a:t>
            </a:r>
            <a:r>
              <a:rPr lang="en-US" dirty="0"/>
              <a:t>.</a:t>
            </a:r>
          </a:p>
          <a:p>
            <a:r>
              <a:rPr lang="en-US" b="1" dirty="0"/>
              <a:t>10. Depreciation Rate (Diminishing Balance Method)</a:t>
            </a:r>
          </a:p>
          <a:p>
            <a:pPr marL="400050" lvl="1" indent="0">
              <a:buNone/>
            </a:pPr>
            <a:r>
              <a:rPr lang="en-US" dirty="0"/>
              <a:t>A fixed percentage applied each year on the reducing book value of the asset.</a:t>
            </a:r>
          </a:p>
          <a:p>
            <a:r>
              <a:rPr lang="en-US" b="1" dirty="0"/>
              <a:t>11. Depreciation Schedule</a:t>
            </a:r>
          </a:p>
          <a:p>
            <a:pPr marL="400050" lvl="1" indent="0">
              <a:buNone/>
            </a:pPr>
            <a:r>
              <a:rPr lang="en-US" dirty="0"/>
              <a:t>A year-by-year table showing depreciation expense and remaining book value.</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Straight-Line Method</a:t>
            </a:r>
          </a:p>
        </p:txBody>
      </p:sp>
      <p:sp>
        <p:nvSpPr>
          <p:cNvPr id="3" name="Content Placeholder 2"/>
          <p:cNvSpPr>
            <a:spLocks noGrp="1"/>
          </p:cNvSpPr>
          <p:nvPr>
            <p:ph idx="1"/>
          </p:nvPr>
        </p:nvSpPr>
        <p:spPr>
          <a:xfrm>
            <a:off x="262466" y="1303868"/>
            <a:ext cx="7027333" cy="4737496"/>
          </a:xfrm>
        </p:spPr>
        <p:txBody>
          <a:bodyPr/>
          <a:lstStyle/>
          <a:p>
            <a:r>
              <a:rPr lang="en-US" b="1" dirty="0"/>
              <a:t>Definition</a:t>
            </a:r>
          </a:p>
          <a:p>
            <a:pPr marL="400050" lvl="1" indent="0">
              <a:buNone/>
            </a:pPr>
            <a:r>
              <a:rPr lang="en-US" dirty="0"/>
              <a:t>The Straight-Line Method allocates an equal amount of depreciation every year over the asset’s useful life.</a:t>
            </a:r>
          </a:p>
          <a:p>
            <a:r>
              <a:rPr lang="en-US" b="1" dirty="0"/>
              <a:t>Formula</a:t>
            </a:r>
          </a:p>
          <a:p>
            <a:pPr marL="400050" lvl="1" indent="0">
              <a:buNone/>
            </a:pPr>
            <a:r>
              <a:rPr lang="en-US" b="1" dirty="0"/>
              <a:t>Depreciation per Year = (Asset Price – Scrap Value) ÷ Estimated Life Span</a:t>
            </a:r>
            <a:endParaRPr lang="en-US" dirty="0"/>
          </a:p>
          <a:p>
            <a:r>
              <a:rPr lang="en-US" b="1" dirty="0"/>
              <a:t>Key Features</a:t>
            </a:r>
          </a:p>
          <a:p>
            <a:pPr lvl="1" indent="-342900">
              <a:buFont typeface="+mj-lt"/>
              <a:buAutoNum type="arabicPeriod"/>
            </a:pPr>
            <a:r>
              <a:rPr lang="en-US" dirty="0"/>
              <a:t>Provides a </a:t>
            </a:r>
            <a:r>
              <a:rPr lang="en-US" b="1" dirty="0"/>
              <a:t>constant yearly depreciation</a:t>
            </a:r>
            <a:endParaRPr lang="en-US" dirty="0"/>
          </a:p>
          <a:p>
            <a:pPr lvl="1" indent="-342900">
              <a:buFont typeface="+mj-lt"/>
              <a:buAutoNum type="arabicPeriod"/>
            </a:pPr>
            <a:r>
              <a:rPr lang="en-US" dirty="0"/>
              <a:t>Simple to calculate and easy to apply</a:t>
            </a:r>
          </a:p>
          <a:p>
            <a:pPr lvl="1" indent="-342900">
              <a:buFont typeface="+mj-lt"/>
              <a:buAutoNum type="arabicPeriod"/>
            </a:pPr>
            <a:r>
              <a:rPr lang="en-US" dirty="0"/>
              <a:t>Ideal for assets that generate </a:t>
            </a:r>
            <a:r>
              <a:rPr lang="en-US" b="1" dirty="0"/>
              <a:t>uniform utility</a:t>
            </a:r>
            <a:r>
              <a:rPr lang="en-US" dirty="0"/>
              <a:t> over time</a:t>
            </a:r>
          </a:p>
          <a:p>
            <a:pPr marL="0" indent="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Diminishing Balance Method</a:t>
            </a:r>
          </a:p>
        </p:txBody>
      </p:sp>
      <p:sp>
        <p:nvSpPr>
          <p:cNvPr id="5" name="Content Placeholder 4">
            <a:extLst>
              <a:ext uri="{FF2B5EF4-FFF2-40B4-BE49-F238E27FC236}">
                <a16:creationId xmlns:a16="http://schemas.microsoft.com/office/drawing/2014/main" id="{AB591C46-F9E5-49D2-9C16-8BB81DC63357}"/>
              </a:ext>
            </a:extLst>
          </p:cNvPr>
          <p:cNvSpPr>
            <a:spLocks noGrp="1"/>
          </p:cNvSpPr>
          <p:nvPr>
            <p:ph idx="1"/>
          </p:nvPr>
        </p:nvSpPr>
        <p:spPr>
          <a:xfrm>
            <a:off x="118534" y="1913468"/>
            <a:ext cx="8864600" cy="4712096"/>
          </a:xfrm>
        </p:spPr>
        <p:txBody>
          <a:bodyPr/>
          <a:lstStyle/>
          <a:p>
            <a:r>
              <a:rPr lang="en-US" b="1" dirty="0"/>
              <a:t>Definition</a:t>
            </a:r>
          </a:p>
          <a:p>
            <a:pPr marL="400050" lvl="1" indent="0">
              <a:buNone/>
            </a:pPr>
            <a:r>
              <a:rPr lang="en-US" dirty="0"/>
              <a:t>The Diminishing Balance Method applies a fixed depreciation rate to the </a:t>
            </a:r>
            <a:r>
              <a:rPr lang="en-US" b="1" dirty="0"/>
              <a:t>book value</a:t>
            </a:r>
            <a:r>
              <a:rPr lang="en-US" dirty="0"/>
              <a:t> of the asset each year, resulting in </a:t>
            </a:r>
            <a:r>
              <a:rPr lang="en-US" b="1" dirty="0"/>
              <a:t>higher depreciation in early years</a:t>
            </a:r>
            <a:r>
              <a:rPr lang="en-US" dirty="0"/>
              <a:t> and lower depreciation later.</a:t>
            </a:r>
          </a:p>
          <a:p>
            <a:r>
              <a:rPr lang="en-US" b="1" dirty="0"/>
              <a:t>Formula</a:t>
            </a:r>
          </a:p>
          <a:p>
            <a:pPr marL="400050" lvl="1" indent="0">
              <a:buNone/>
            </a:pPr>
            <a:r>
              <a:rPr lang="en-US" b="1" dirty="0"/>
              <a:t>Depreciation per Year = Book Value × Depreciation Rate</a:t>
            </a:r>
            <a:endParaRPr lang="en-US" dirty="0"/>
          </a:p>
          <a:p>
            <a:r>
              <a:rPr lang="en-US" b="1" dirty="0"/>
              <a:t>Key Features</a:t>
            </a:r>
          </a:p>
          <a:p>
            <a:pPr lvl="1" indent="-342900">
              <a:buFont typeface="+mj-lt"/>
              <a:buAutoNum type="arabicPeriod"/>
            </a:pPr>
            <a:r>
              <a:rPr lang="en-US" dirty="0"/>
              <a:t>Depreciation decreases each year as book value reduces.</a:t>
            </a:r>
          </a:p>
          <a:p>
            <a:pPr lvl="1" indent="-342900">
              <a:buFont typeface="+mj-lt"/>
              <a:buAutoNum type="arabicPeriod"/>
            </a:pPr>
            <a:r>
              <a:rPr lang="en-US" dirty="0"/>
              <a:t>Better represents assets that </a:t>
            </a:r>
            <a:r>
              <a:rPr lang="en-US" b="1" dirty="0"/>
              <a:t>lose value quickly.</a:t>
            </a:r>
            <a:endParaRPr lang="en-US" dirty="0"/>
          </a:p>
          <a:p>
            <a:pPr lvl="1" indent="-342900">
              <a:buFont typeface="+mj-lt"/>
              <a:buAutoNum type="arabicPeriod"/>
            </a:pPr>
            <a:r>
              <a:rPr lang="en-US" dirty="0"/>
              <a:t>More realistic for technology, machinery, and equipment.</a:t>
            </a:r>
          </a:p>
          <a:p>
            <a:pPr marL="0" indent="0">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Comparative Analysis</a:t>
            </a:r>
          </a:p>
        </p:txBody>
      </p:sp>
      <p:sp>
        <p:nvSpPr>
          <p:cNvPr id="3" name="Content Placeholder 2"/>
          <p:cNvSpPr>
            <a:spLocks noGrp="1"/>
          </p:cNvSpPr>
          <p:nvPr>
            <p:ph idx="1"/>
          </p:nvPr>
        </p:nvSpPr>
        <p:spPr>
          <a:xfrm>
            <a:off x="304800" y="1380068"/>
            <a:ext cx="7001933" cy="4661296"/>
          </a:xfrm>
        </p:spPr>
        <p:txBody>
          <a:bodyPr>
            <a:normAutofit/>
          </a:bodyPr>
          <a:lstStyle/>
          <a:p>
            <a:r>
              <a:rPr lang="en-US" sz="2000" dirty="0"/>
              <a:t>Depreciation Pattern</a:t>
            </a:r>
          </a:p>
          <a:p>
            <a:r>
              <a:rPr lang="en-US" sz="2000" dirty="0"/>
              <a:t>Suitability</a:t>
            </a:r>
          </a:p>
          <a:p>
            <a:r>
              <a:rPr lang="en-US" sz="2000" dirty="0"/>
              <a:t>Complexity</a:t>
            </a:r>
          </a:p>
          <a:p>
            <a:r>
              <a:rPr lang="en-US" sz="2000" dirty="0"/>
              <a:t>Impact on Book Value</a:t>
            </a:r>
          </a:p>
          <a:p>
            <a:r>
              <a:rPr lang="en-US" sz="2000" dirty="0"/>
              <a:t>Tax Implications</a:t>
            </a:r>
          </a:p>
          <a:p>
            <a:r>
              <a:rPr lang="en-US" sz="2000" dirty="0"/>
              <a:t>Financial Reporting Perspective</a:t>
            </a:r>
            <a:endParaRPr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Advantages &amp; Disadvantages</a:t>
            </a:r>
          </a:p>
        </p:txBody>
      </p:sp>
      <p:sp>
        <p:nvSpPr>
          <p:cNvPr id="3" name="Content Placeholder 2"/>
          <p:cNvSpPr>
            <a:spLocks noGrp="1"/>
          </p:cNvSpPr>
          <p:nvPr>
            <p:ph idx="1"/>
          </p:nvPr>
        </p:nvSpPr>
        <p:spPr>
          <a:xfrm>
            <a:off x="484709" y="2006601"/>
            <a:ext cx="8489957" cy="4267200"/>
          </a:xfrm>
        </p:spPr>
        <p:txBody>
          <a:bodyPr>
            <a:normAutofit fontScale="92500" lnSpcReduction="10000"/>
          </a:bodyPr>
          <a:lstStyle/>
          <a:p>
            <a:r>
              <a:rPr lang="en-US" b="1" dirty="0"/>
              <a:t>Advantages</a:t>
            </a:r>
          </a:p>
          <a:p>
            <a:pPr marL="400050" lvl="1" indent="0">
              <a:buNone/>
            </a:pPr>
            <a:r>
              <a:rPr lang="en-US" b="1" dirty="0"/>
              <a:t>Straight-Line Method:</a:t>
            </a:r>
            <a:br>
              <a:rPr lang="en-US" dirty="0"/>
            </a:br>
            <a:r>
              <a:rPr lang="en-US" dirty="0"/>
              <a:t>Simple to calculate, provides consistent yearly depreciation, and is suitable for assets with uniform usage.</a:t>
            </a:r>
          </a:p>
          <a:p>
            <a:pPr marL="400050" lvl="1" indent="0">
              <a:buNone/>
            </a:pPr>
            <a:r>
              <a:rPr lang="en-US" b="1" dirty="0"/>
              <a:t>Diminishing Balance Method:</a:t>
            </a:r>
            <a:br>
              <a:rPr lang="en-US" dirty="0"/>
            </a:br>
            <a:r>
              <a:rPr lang="en-US" dirty="0"/>
              <a:t>Reflects actual asset usage with higher depreciation in early years, useful for rapidly depreciating or technologically sensitive assets</a:t>
            </a:r>
          </a:p>
          <a:p>
            <a:r>
              <a:rPr lang="en-US" b="1" dirty="0"/>
              <a:t>Disadvantages</a:t>
            </a:r>
          </a:p>
          <a:p>
            <a:pPr marL="400050" lvl="1" indent="0">
              <a:buNone/>
            </a:pPr>
            <a:r>
              <a:rPr lang="en-US" b="1" dirty="0"/>
              <a:t>Straight-Line Method:</a:t>
            </a:r>
            <a:br>
              <a:rPr lang="en-US" dirty="0"/>
            </a:br>
            <a:r>
              <a:rPr lang="en-US" dirty="0"/>
              <a:t>Does not match assets that lose value quickly, may overstate book value in early years, and offers lower tax benefits initially.</a:t>
            </a:r>
          </a:p>
          <a:p>
            <a:pPr marL="400050" lvl="1" indent="0">
              <a:buNone/>
            </a:pPr>
            <a:r>
              <a:rPr lang="en-US" b="1" dirty="0"/>
              <a:t>Diminishing Balance Method:</a:t>
            </a:r>
            <a:br>
              <a:rPr lang="en-US" dirty="0"/>
            </a:br>
            <a:r>
              <a:rPr lang="en-US" dirty="0"/>
              <a:t>More complex calculations, results in sharply reduced book value early on, and gives minimal depreciation in later years.</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Insights</a:t>
            </a:r>
          </a:p>
        </p:txBody>
      </p:sp>
      <p:sp>
        <p:nvSpPr>
          <p:cNvPr id="3" name="Content Placeholder 2"/>
          <p:cNvSpPr>
            <a:spLocks noGrp="1"/>
          </p:cNvSpPr>
          <p:nvPr>
            <p:ph idx="1"/>
          </p:nvPr>
        </p:nvSpPr>
        <p:spPr>
          <a:xfrm>
            <a:off x="296333" y="1270000"/>
            <a:ext cx="7035800" cy="4830630"/>
          </a:xfrm>
        </p:spPr>
        <p:txBody>
          <a:bodyPr>
            <a:normAutofit/>
          </a:bodyPr>
          <a:lstStyle/>
          <a:p>
            <a:r>
              <a:rPr lang="en-US" dirty="0"/>
              <a:t>The </a:t>
            </a:r>
            <a:r>
              <a:rPr lang="en-US" b="1" dirty="0"/>
              <a:t>Straight-Line Method</a:t>
            </a:r>
            <a:r>
              <a:rPr lang="en-US" dirty="0"/>
              <a:t> is best suited for assets that provide steady, predictable performance, offering clear and consistent depreciation over time.</a:t>
            </a:r>
          </a:p>
          <a:p>
            <a:r>
              <a:rPr lang="en-US" dirty="0"/>
              <a:t>The </a:t>
            </a:r>
            <a:r>
              <a:rPr lang="en-US" b="1" dirty="0"/>
              <a:t>Diminishing Balance Method</a:t>
            </a:r>
            <a:r>
              <a:rPr lang="en-US" dirty="0"/>
              <a:t> aligns better with assets that lose value quickly, ensuring depreciation reflects actual usage and early-stage wear.</a:t>
            </a:r>
          </a:p>
          <a:p>
            <a:r>
              <a:rPr lang="en-US" dirty="0"/>
              <a:t>Choosing the right method depends on the asset’s nature, business requirements, and financial strategy, ensuring accurate reporting and better tax planning.</a:t>
            </a:r>
          </a:p>
          <a:p>
            <a:r>
              <a:rPr lang="en-US" dirty="0"/>
              <a:t>A combination of both methods across different asset categories can help organizations maintain more realistic asset valuations and financial statements.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82800" y="609600"/>
            <a:ext cx="3225800" cy="1320800"/>
          </a:xfrm>
        </p:spPr>
        <p:txBody>
          <a:bodyPr>
            <a:normAutofit/>
          </a:bodyPr>
          <a:lstStyle/>
          <a:p>
            <a:r>
              <a:rPr sz="4000" b="1" dirty="0"/>
              <a:t>Conclusion</a:t>
            </a:r>
          </a:p>
        </p:txBody>
      </p:sp>
      <p:sp>
        <p:nvSpPr>
          <p:cNvPr id="3" name="Content Placeholder 2"/>
          <p:cNvSpPr>
            <a:spLocks noGrp="1"/>
          </p:cNvSpPr>
          <p:nvPr>
            <p:ph idx="1"/>
          </p:nvPr>
        </p:nvSpPr>
        <p:spPr>
          <a:xfrm>
            <a:off x="270934" y="1363133"/>
            <a:ext cx="7222066" cy="3268134"/>
          </a:xfrm>
        </p:spPr>
        <p:txBody>
          <a:bodyPr>
            <a:normAutofit fontScale="92500" lnSpcReduction="10000"/>
          </a:bodyPr>
          <a:lstStyle/>
          <a:p>
            <a:pPr marL="0" indent="0">
              <a:buNone/>
            </a:pPr>
            <a:endParaRPr lang="en-US" dirty="0"/>
          </a:p>
          <a:p>
            <a:pPr marL="0" indent="0">
              <a:buNone/>
            </a:pPr>
            <a:endParaRPr lang="en-US" dirty="0"/>
          </a:p>
          <a:p>
            <a:pPr marL="0" indent="0">
              <a:buNone/>
            </a:pPr>
            <a:r>
              <a:rPr lang="en-US" dirty="0"/>
              <a:t>The Straight-Line and Diminishing Balance methods each offer unique benefits depending on how an asset is used. The Straight-Line method provides consistent depreciation and is ideal for assets with steady usage, while the Diminishing Balance method reflects faster value loss by applying higher depreciation in the earlier years. Choosing the most appropriate method helps businesses maintain accurate asset values, improve financial reporting, and support better overall decision-making.</a:t>
            </a:r>
          </a:p>
          <a:p>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92</TotalTime>
  <Words>880</Words>
  <Application>Microsoft Office PowerPoint</Application>
  <PresentationFormat>On-screen Show (4:3)</PresentationFormat>
  <Paragraphs>80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Algerian</vt:lpstr>
      <vt:lpstr>Arial</vt:lpstr>
      <vt:lpstr>Century Gothic</vt:lpstr>
      <vt:lpstr>Wingdings 3</vt:lpstr>
      <vt:lpstr>Ion</vt:lpstr>
      <vt:lpstr>Comparative Analysis of Depreciation Methods</vt:lpstr>
      <vt:lpstr>Scope of the Project</vt:lpstr>
      <vt:lpstr>           Introduction to               Depreciation</vt:lpstr>
      <vt:lpstr>Importance of Depreciation</vt:lpstr>
      <vt:lpstr>Key Terminologies</vt:lpstr>
      <vt:lpstr>Key Terminologies (2/2)</vt:lpstr>
      <vt:lpstr>Straight-Line Method</vt:lpstr>
      <vt:lpstr>Diminishing Balance Method</vt:lpstr>
      <vt:lpstr>Comparative Analysis</vt:lpstr>
      <vt:lpstr>Advantages &amp; Disadvantages</vt:lpstr>
      <vt:lpstr>Insights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Jayesh Bacchav</dc:creator>
  <cp:keywords/>
  <dc:description>generated using python-pptx</dc:description>
  <cp:lastModifiedBy>Jayesh Bacchav</cp:lastModifiedBy>
  <cp:revision>2</cp:revision>
  <dcterms:created xsi:type="dcterms:W3CDTF">2013-01-27T09:14:16Z</dcterms:created>
  <dcterms:modified xsi:type="dcterms:W3CDTF">2025-11-28T09:02:34Z</dcterms:modified>
  <cp:category/>
</cp:coreProperties>
</file>